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/>
    <p:restoredTop sz="84420"/>
  </p:normalViewPr>
  <p:slideViewPr>
    <p:cSldViewPr snapToGrid="0" snapToObjects="1">
      <p:cViewPr varScale="1">
        <p:scale>
          <a:sx n="121" d="100"/>
          <a:sy n="121" d="100"/>
        </p:scale>
        <p:origin x="1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10-DD4E-9EBE-3822419FE8A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10-DD4E-9EBE-3822419FE8A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C10-DD4E-9EBE-3822419FE8A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C10-DD4E-9EBE-3822419FE8A4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10-DD4E-9EBE-3822419FE8A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C10-DD4E-9EBE-3822419FE8A4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C10-DD4E-9EBE-3822419FE8A4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5C10-DD4E-9EBE-3822419FE8A4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C10-DD4E-9EBE-3822419FE8A4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C10-DD4E-9EBE-3822419FE8A4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5C10-DD4E-9EBE-3822419FE8A4}"/>
              </c:ext>
            </c:extLst>
          </c:dPt>
          <c:dPt>
            <c:idx val="1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C10-DD4E-9EBE-3822419FE8A4}"/>
              </c:ext>
            </c:extLst>
          </c:dPt>
          <c:cat>
            <c:strRef>
              <c:f>Sheet1!$A$2:$A$13</c:f>
              <c:strCache>
                <c:ptCount val="12"/>
                <c:pt idx="0">
                  <c:v>UFA</c:v>
                </c:pt>
                <c:pt idx="1">
                  <c:v>Costco</c:v>
                </c:pt>
                <c:pt idx="2">
                  <c:v>Inv3</c:v>
                </c:pt>
                <c:pt idx="3">
                  <c:v>Inv4</c:v>
                </c:pt>
                <c:pt idx="4">
                  <c:v>Petro</c:v>
                </c:pt>
                <c:pt idx="5">
                  <c:v>Shell</c:v>
                </c:pt>
                <c:pt idx="6">
                  <c:v>UFA2</c:v>
                </c:pt>
                <c:pt idx="7">
                  <c:v>Inv8</c:v>
                </c:pt>
                <c:pt idx="8">
                  <c:v>Inv9</c:v>
                </c:pt>
                <c:pt idx="9">
                  <c:v>Inv10</c:v>
                </c:pt>
                <c:pt idx="10">
                  <c:v>Car Nth</c:v>
                </c:pt>
                <c:pt idx="11">
                  <c:v>Esso
Circle 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99.5</c:v>
                </c:pt>
                <c:pt idx="1">
                  <c:v>98</c:v>
                </c:pt>
                <c:pt idx="2">
                  <c:v>94.1</c:v>
                </c:pt>
                <c:pt idx="3">
                  <c:v>96.9</c:v>
                </c:pt>
                <c:pt idx="4">
                  <c:v>89.1</c:v>
                </c:pt>
                <c:pt idx="5">
                  <c:v>97.3</c:v>
                </c:pt>
                <c:pt idx="6">
                  <c:v>99.1</c:v>
                </c:pt>
                <c:pt idx="7">
                  <c:v>94.3</c:v>
                </c:pt>
                <c:pt idx="8">
                  <c:v>95.4</c:v>
                </c:pt>
                <c:pt idx="9">
                  <c:v>91.8</c:v>
                </c:pt>
                <c:pt idx="10">
                  <c:v>93.5</c:v>
                </c:pt>
                <c:pt idx="11">
                  <c:v>87.2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C10-DD4E-9EBE-3822419FE8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771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27FE-9DD3-CDC3-D409-DC3432BDD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CFF9B-0DD7-087A-72AE-3F7F76DAC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8D568-51D4-28E9-7188-2B19C274C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393C-3CD6-D2B7-DB6C-BC1A7CE9C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83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57219-76C7-0B87-8995-AA01066C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36709-2935-2323-599B-23A01E54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C1AD0-1233-7076-6E52-6E1427DC5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E346B-D233-1C69-D566-999F88D82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815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5EE0-DD8C-EDB0-6626-A8151D38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BCC27-7F44-D259-A6FC-ABCED4C71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80DC0-7C94-AA94-3843-1DF6A5AB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E7F52-E5DA-2F48-0FC7-3CE3BFB15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06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65FE-5577-9A1D-D25E-18F2911D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97A88-C620-DD6F-9D49-0EA4CD6A1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982BF-E9BE-0A60-357E-6B4899622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419F0-20B0-6936-88AC-4869BBEA1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83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2146-A425-5C31-E283-51B0A42C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319FA-525A-46EC-7AB3-3D7E72382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11573-A504-6232-D41A-BE4D23566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074EC-D503-4553-6AAF-1B6D0B841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17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A1B1-E6C3-BEAD-0D55-43D0CCFE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307AF-47E1-17EF-F684-6F0109C7D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8179F-0ABC-CC68-D5CD-BAB24609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35687-D05A-D448-FEA5-491583182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5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3322-CB1D-6E15-C819-FFDA41A9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5D689-C66D-9D79-225D-294D505B8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5A4FB-1F90-7873-82E4-479D687F2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CF269-C48F-F50F-C921-4F2362F7A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99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37F3-80DC-6052-32DC-63F0C243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7ED2A-7E4D-CF0E-DFFC-3D1590804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86FA8-2993-F9D4-3497-E312885DE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9E0E7-5DD8-430E-D753-21C32AFFE0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79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26921-57EA-3065-0154-0A7EFEEA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02E3E-F2BB-616E-03B7-9CEF02A58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97796-A9E8-DD7A-3FC9-650650AA1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9DBDD-FAF4-87D7-1FEA-4188EFBF0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948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24CD0-18A9-6B46-C735-2C53E68D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F3CE9-D9D5-7CA0-BAE5-54988F913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7ECA1-EC3E-B411-B16A-5C555D144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33B0-587C-9157-0301-6078F0158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17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36E80-547F-41B5-4981-397179152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DC3B5-7F4C-BB31-A3B8-992210651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BA5F8-988A-E180-0568-DBC8DB008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A08BD-037C-6BBE-2BA3-EFAB48938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05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7491-9EEE-5706-BA12-B13097636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ADCDD-F0E9-5C2C-633D-69D870FC7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8150C-DB5D-263D-7B18-AF95D91EA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9FA59-24AD-EDD1-987E-83A913B17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84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3EED-2497-705D-5B16-A01C670D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B7C35-AB2F-EA56-A06A-1F716B6E9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C498E-A1FA-15B6-9D56-AA76F15A3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C1A0-FA19-F829-3A5E-5BB12EB04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06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0E4F-9027-B4A9-CA40-3FE1BB71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C8B44-9C05-90BA-31A5-521CA3FE1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62748-E843-D67C-63E2-4648982F9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3EBC7-9255-A612-3BEE-37C87CF17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508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FE83-A298-6CC8-3DEA-45F6B400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463EC-F737-1104-11FA-AC811AE26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B9EF5-76D7-CD98-2DBC-42571FA8F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161C6-93A3-75CE-98C4-5E9F8E7C0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68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7F630-B6CE-2460-D227-E38CB520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DD108-5DF8-E4DB-8E74-6B9E09E53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3845F-8D4A-5E98-7B53-1F8357B7D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F91A4-4F24-9BFA-305D-D264ECA41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319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8854-B3F0-68B7-3A5B-C6C58E28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FC9EA-FC5F-FE30-62A6-ADC7AC9AD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BE969-E88A-DD2F-2089-987646F8E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04787-E61F-3090-BC58-874405D05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8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7" Type="http://schemas.openxmlformats.org/officeDocument/2006/relationships/slide" Target="slide2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25.xml"/><Relationship Id="rId4" Type="http://schemas.openxmlformats.org/officeDocument/2006/relationships/slide" Target="slide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1.xml"/><Relationship Id="rId4" Type="http://schemas.openxmlformats.org/officeDocument/2006/relationships/slide" Target="slide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0116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GOVERNMENT OF ALBERTA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IFTA Audit ML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Normalization, Analytics &amp; Machine Learning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 files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92608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 used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3456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AWS Services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 applied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3456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ML Approaches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292608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 / 40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29400" y="3456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Critical Records Flagged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Data Scientist Assessment  |  ca-central-1  |  May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02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9784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Problem Understanding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17957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IFTA context and audit objectives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502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5361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Sources &amp;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7373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 files + Esso Express ZIP extraction fix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075688"/>
            <a:ext cx="502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0756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09397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Curation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29514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Cleaning, AWS Location Service, quality flags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502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633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651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285292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 IFTA features + correlation heatmap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91256"/>
            <a:ext cx="502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1912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2095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ML Modelling &amp; Results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4107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Z-Score, Rules, Isolation Forest, K-Means, SHAP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502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749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37673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AWS Architecture &amp; Demo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396849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 services + live Athena queries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06824"/>
            <a:ext cx="502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30682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51560" y="43251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Limitations &amp; Roadmap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51560" y="452628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Data quality, model limits, future supervised learning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3200400" cy="5084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82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Understanding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What is IFTA?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CADCFC"/>
                </a:solidFill>
              </a:rPr>
              <a:t>International Fuel Tax Agreement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CADCFC"/>
                </a:solidFill>
              </a:rPr>
              <a:t>• Simplifies fuel tax across multiple jurisdictions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CADCFC"/>
                </a:solidFill>
              </a:rPr>
              <a:t>• Reconcile fuel purchased per province with distance driven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CADCFC"/>
                </a:solidFill>
              </a:rPr>
              <a:t>• Canada + USA — provincial tax rates differ significantly</a:t>
            </a:r>
            <a:endParaRPr lang="en-US" sz="900" dirty="0"/>
          </a:p>
          <a:p>
            <a:pPr marL="0" indent="0" algn="just">
              <a:buNone/>
            </a:pPr>
            <a:r>
              <a:rPr lang="en-US" sz="900" dirty="0">
                <a:solidFill>
                  <a:srgbClr val="CADCFC"/>
                </a:solidFill>
              </a:rPr>
              <a:t>• Core fraud: buy fuel in low-tax province, claim distance in high-tax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Audit Objective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822960"/>
            <a:ext cx="5303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8686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868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Identify Anomalies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143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Detect implausible fuel/distance patterns indicating compliance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828800"/>
            <a:ext cx="5303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0" y="18745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Support Audit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Prioritize records — Critical, High, Medium, 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834640"/>
            <a:ext cx="5303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0440" y="28803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0" y="2880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Explain Findings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Plain English per flagged record — defensible in court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840480"/>
            <a:ext cx="5303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0440" y="38862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0" y="3886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Use AWS at Scale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160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Serverless reproducible pipeline from raw files to queryable results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02  Data Sources &amp;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84832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848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Fuel_Invoices.docx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12 images (ZIP extracted)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Textract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AnalyzeExpense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1901952" cy="320040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85623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OCR Required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777240"/>
            <a:ext cx="2084832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41448" y="777240"/>
            <a:ext cx="20848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32888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Distance_log_2.pdf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2888" y="12618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7 pages, image-based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32888" y="151790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Textract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Async Tables+Forms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32888" y="1856232"/>
            <a:ext cx="1901952" cy="320040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32888" y="185623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OCR Required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54296" y="777240"/>
            <a:ext cx="2084832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54296" y="777240"/>
            <a:ext cx="208483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45736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Distance_log_1.xlsx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45736" y="12618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21 rows, structured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45736" y="151790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Pandas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Direct Read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45736" y="1856232"/>
            <a:ext cx="190195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45736" y="185623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No OCR Needed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67144" y="777240"/>
            <a:ext cx="2084832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67144" y="777240"/>
            <a:ext cx="20848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58584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Assessment_Handout.pdf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58584" y="12618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Requirements doc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58584" y="151790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Reference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Only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58584" y="1856232"/>
            <a:ext cx="190195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58584" y="185623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Reference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" y="32689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Textract Extraction Confidence (all 12 invoices):</a:t>
            </a:r>
            <a:endParaRPr lang="en-US" sz="1100" dirty="0"/>
          </a:p>
        </p:txBody>
      </p:sp>
      <p:graphicFrame>
        <p:nvGraphicFramePr>
          <p:cNvPr id="45" name="Chart 0"/>
          <p:cNvGraphicFramePr/>
          <p:nvPr>
            <p:extLst>
              <p:ext uri="{D42A27DB-BD31-4B8C-83A1-F6EECF244321}">
                <p14:modId xmlns:p14="http://schemas.microsoft.com/office/powerpoint/2010/main" val="175943178"/>
              </p:ext>
            </p:extLst>
          </p:nvPr>
        </p:nvGraphicFramePr>
        <p:xfrm>
          <a:off x="228600" y="3589020"/>
          <a:ext cx="8686800" cy="1399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Shape 4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2DC92D-117C-C5B1-F645-D3DEC1DBF563}"/>
              </a:ext>
            </a:extLst>
          </p:cNvPr>
          <p:cNvSpPr/>
          <p:nvPr/>
        </p:nvSpPr>
        <p:spPr>
          <a:xfrm>
            <a:off x="228600" y="2720340"/>
            <a:ext cx="8686800" cy="4663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B9B171A-67E3-E5BE-4B1C-80CF938C5A7C}"/>
              </a:ext>
            </a:extLst>
          </p:cNvPr>
          <p:cNvSpPr/>
          <p:nvPr/>
        </p:nvSpPr>
        <p:spPr>
          <a:xfrm>
            <a:off x="320040" y="2816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🔑  Key Insight:</a:t>
            </a:r>
            <a:endParaRPr lang="en-US" sz="1100" dirty="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0BF386A7-B6BA-8DDD-2613-BBC8BD493843}"/>
              </a:ext>
            </a:extLst>
          </p:cNvPr>
          <p:cNvSpPr/>
          <p:nvPr/>
        </p:nvSpPr>
        <p:spPr>
          <a:xfrm>
            <a:off x="1920240" y="2647188"/>
            <a:ext cx="6858000" cy="640080"/>
          </a:xfrm>
          <a:prstGeom prst="rect">
            <a:avLst/>
          </a:prstGeom>
          <a:noFill/>
          <a:ln/>
        </p:spPr>
        <p:txBody>
          <a:bodyPr wrap="square" numCol="1" rtlCol="0" anchor="ctr"/>
          <a:lstStyle/>
          <a:p>
            <a:r>
              <a:rPr lang="en-US" sz="1100" dirty="0"/>
              <a:t>Total Invoice:-12 	Avg Confidence:-  95.5% 	           Low Confidence (&lt;80%):- None</a:t>
            </a:r>
            <a:r>
              <a:rPr lang="en-US" sz="1000" dirty="0"/>
              <a:t>.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03  Data Curation &amp; Preparation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0972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Raw Files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 S3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777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ZIP Image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Extract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42032" y="9601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06624" y="777240"/>
            <a:ext cx="10972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06624" y="777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Textract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OCR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03904" y="9601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68496" y="777240"/>
            <a:ext cx="10972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68496" y="777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Parse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Clean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65776" y="9601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0368" y="777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AWS Location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Service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27648" y="9601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777240"/>
            <a:ext cx="10972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777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Quality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Flags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89520" y="9601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54112" y="777240"/>
            <a:ext cx="109728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54112" y="7772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ML-Ready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CSV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Quality Issues Found &amp; Handled: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2578608"/>
            <a:ext cx="425196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578608"/>
            <a:ext cx="54864" cy="612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2615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26060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Mixed date formats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Fix: parse_date() handles Excel serials, DD-MM-YYYY, text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282696"/>
            <a:ext cx="425196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74320" y="3282696"/>
            <a:ext cx="54864" cy="612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331927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🏙️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33101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E2761"/>
                </a:solidFill>
              </a:rPr>
              <a:t>City name typos. 		                           </a:t>
            </a:r>
            <a:r>
              <a:rPr lang="en-CA" sz="600" dirty="0">
                <a:hlinkClick r:id="rId3" action="ppaction://hlinksldjump"/>
              </a:rPr>
              <a:t>See province distribution →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772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Fix: AWS Location Service auto-corrects via geocoding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986784"/>
            <a:ext cx="425196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986784"/>
            <a:ext cx="54864" cy="612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4048" y="4023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📍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40142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Compound location strings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" y="4224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Fix: split_location() splits 'nisku to grande prairie'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9160" y="2578608"/>
            <a:ext cx="425196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709160" y="2578608"/>
            <a:ext cx="54864" cy="6126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18888" y="2615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26060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E2761"/>
                </a:solidFill>
              </a:rPr>
              <a:t>Missing dates (9 rows) 	                      </a:t>
            </a:r>
            <a:r>
              <a:rPr lang="en-CA" sz="600" dirty="0">
                <a:hlinkClick r:id="rId4" action="ppaction://hlinksldjump"/>
              </a:rPr>
              <a:t>See missing value breakdown 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Fix: Flagged date_missing=True — RETAINED, never dropped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3282696"/>
            <a:ext cx="425196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09160" y="3282696"/>
            <a:ext cx="54864" cy="6126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18888" y="331927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12080" y="33101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VIN/truck identifier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12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Fix: Documented — assumes single vehicle fleet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09160" y="3986784"/>
            <a:ext cx="4251960" cy="6126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09160" y="3986784"/>
            <a:ext cx="54864" cy="6126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18888" y="4023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🐛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12080" y="40142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Floating image missed (Esso)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12080" y="4224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Fix: Fixed: ZIP extraction captures all embedding types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4320" y="4709160"/>
            <a:ext cx="86868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47274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🔑  Audit Principle: We NEVER drop rows. Every row is evidence. Issues documented in data_quality_flags.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C96EFDC5-E8FD-1746-80B4-6286FBDCA39A}"/>
              </a:ext>
            </a:extLst>
          </p:cNvPr>
          <p:cNvSpPr/>
          <p:nvPr/>
        </p:nvSpPr>
        <p:spPr>
          <a:xfrm>
            <a:off x="1444752" y="779897"/>
            <a:ext cx="10972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endParaRPr lang="en-US" sz="800" dirty="0">
              <a:solidFill>
                <a:srgbClr val="FFFFFF"/>
              </a:solidFill>
            </a:endParaRPr>
          </a:p>
          <a:p>
            <a:pPr algn="ctr"/>
            <a:endParaRPr lang="en-US" sz="800" dirty="0">
              <a:solidFill>
                <a:srgbClr val="FFFFFF"/>
              </a:solidFill>
            </a:endParaRPr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Zip extract</a:t>
            </a:r>
            <a:endParaRPr lang="en-US" sz="800" dirty="0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7612974D-33C6-CE0D-A0D1-91D430175028}"/>
              </a:ext>
            </a:extLst>
          </p:cNvPr>
          <p:cNvSpPr/>
          <p:nvPr/>
        </p:nvSpPr>
        <p:spPr>
          <a:xfrm>
            <a:off x="5230368" y="781226"/>
            <a:ext cx="10972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7E1C11E3-12B0-ACAF-03F5-CD71AAA34BE3}"/>
              </a:ext>
            </a:extLst>
          </p:cNvPr>
          <p:cNvSpPr/>
          <p:nvPr/>
        </p:nvSpPr>
        <p:spPr>
          <a:xfrm>
            <a:off x="5230368" y="781226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AWS Location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Service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04  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 features, each tied directly to an IFTA compliance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3268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9692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Fuel Litres per km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22529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Outside 0.20-0.80 L/km = physically implausible → odometer fraud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7373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77393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Fuel Cost per km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029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Spike without price increase = invoice inflation for tax credits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542032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542032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254203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5786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Trips Without Fuel Purchases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receipt = unreconciled IFTA distance — primary audit signal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346704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346704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334670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3832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Jurisdiction Distance vs Fuel 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Fuel in low-tax, distance in high-tax = core IFTA fraud pattern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4151376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4151376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" y="415137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1879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Temporal Trends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44439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Spikes in monthly distance = fabricated trips or bulk invoice fraud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49240" y="941090"/>
            <a:ext cx="3520440" cy="4032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2815" y="8823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Feature Correlation Matrix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28600" y="4709160"/>
            <a:ext cx="8686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65760" y="472744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🔑  litres_per_km vs </a:t>
            </a:r>
            <a:r>
              <a:rPr lang="en-US" sz="900" dirty="0" err="1">
                <a:solidFill>
                  <a:srgbClr val="1E2761"/>
                </a:solidFill>
              </a:rPr>
              <a:t>Cost_per_km</a:t>
            </a:r>
            <a:r>
              <a:rPr lang="en-US" sz="900" dirty="0">
                <a:solidFill>
                  <a:srgbClr val="1E2761"/>
                </a:solidFill>
              </a:rPr>
              <a:t>: 0.99. Strongest relationship. Isolation Forest is tree-based, handles correlated features natively.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AF3A429-7B27-866E-E930-30447B7F1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830" y="1642665"/>
            <a:ext cx="3014969" cy="234411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019C4BB-77EB-7DFB-8A04-562C36B82A3B}"/>
              </a:ext>
            </a:extLst>
          </p:cNvPr>
          <p:cNvSpPr txBox="1"/>
          <p:nvPr/>
        </p:nvSpPr>
        <p:spPr>
          <a:xfrm>
            <a:off x="7789545" y="4544568"/>
            <a:ext cx="11715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 dirty="0">
                <a:hlinkClick r:id="rId4" action="ppaction://hlinksldjump"/>
              </a:rPr>
              <a:t>See full feature distributions →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05  ML Modelling — 4 Approaches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574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57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795528"/>
            <a:ext cx="411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79552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Statistical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Outlier (Z-Score)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Per-feature Z-score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|Z| &gt; 2.5 = flag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Transparent to auditors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Easily verifiable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" y="2834640"/>
            <a:ext cx="18288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28803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Result: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4 records flagged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777240"/>
            <a:ext cx="20574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23160" y="777240"/>
            <a:ext cx="20574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6312" y="795528"/>
            <a:ext cx="411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80360" y="79552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Rule-Based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2888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4 hard IFTA rules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Tied to compliance req.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Most defensible in court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Auditor-verifiable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32888" y="2834640"/>
            <a:ext cx="18288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87752" y="28803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Result: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87752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33 records flagged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777240"/>
            <a:ext cx="20574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777240"/>
            <a:ext cx="20574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90872" y="795528"/>
            <a:ext cx="411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74920" y="79552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Isolation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Forest (ML)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27448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Unsupervised ML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contamination=0.05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SHAP explainability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27448" y="2834640"/>
            <a:ext cx="1828800" cy="640080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82312" y="28803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Result: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82312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 records flagged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777240"/>
            <a:ext cx="20574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12280" y="777240"/>
            <a:ext cx="205740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85432" y="795528"/>
            <a:ext cx="411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69480" y="795528"/>
            <a:ext cx="1554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K-Means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22008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3 clusters chosen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(K=5 better by 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but K=3 maps to audit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workflow: H/M/L Risk)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22008" y="2834640"/>
            <a:ext cx="18288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76872" y="28803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Result: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76872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3 risk groups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3941064"/>
            <a:ext cx="8686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8328" y="3959352"/>
            <a:ext cx="8485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🧠  SHAP Explainability: WHY each record was flagged. Red deer – Edmonton : </a:t>
            </a:r>
            <a:r>
              <a:rPr lang="en-US" sz="850" dirty="0" err="1">
                <a:solidFill>
                  <a:srgbClr val="1E2761"/>
                </a:solidFill>
              </a:rPr>
              <a:t>litres_per_km</a:t>
            </a:r>
            <a:r>
              <a:rPr lang="en-US" sz="850" dirty="0">
                <a:solidFill>
                  <a:srgbClr val="1E2761"/>
                </a:solidFill>
              </a:rPr>
              <a:t>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D45962-3E02-DEE9-15C7-04025ABF96DE}"/>
              </a:ext>
            </a:extLst>
          </p:cNvPr>
          <p:cNvSpPr txBox="1"/>
          <p:nvPr/>
        </p:nvSpPr>
        <p:spPr>
          <a:xfrm>
            <a:off x="1337024" y="2681198"/>
            <a:ext cx="1012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 dirty="0">
                <a:hlinkClick r:id="rId3" action="ppaction://hlinksldjump"/>
              </a:rPr>
              <a:t>See full Z-Score analysis</a:t>
            </a:r>
            <a:r>
              <a:rPr lang="en-CA" sz="800" dirty="0"/>
              <a:t> </a:t>
            </a:r>
            <a:endParaRPr lang="en-US" sz="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EDACC9-ECD3-FB49-38E1-C0761AA56C86}"/>
              </a:ext>
            </a:extLst>
          </p:cNvPr>
          <p:cNvSpPr txBox="1"/>
          <p:nvPr/>
        </p:nvSpPr>
        <p:spPr>
          <a:xfrm>
            <a:off x="3714465" y="2696587"/>
            <a:ext cx="7629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 dirty="0">
                <a:hlinkClick r:id="rId4" action="ppaction://hlinksldjump"/>
              </a:rPr>
              <a:t>See rule details → </a:t>
            </a:r>
            <a:endParaRPr lang="en-US" sz="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74183B-211B-4401-0811-A70E7FD629EA}"/>
              </a:ext>
            </a:extLst>
          </p:cNvPr>
          <p:cNvSpPr txBox="1"/>
          <p:nvPr/>
        </p:nvSpPr>
        <p:spPr>
          <a:xfrm>
            <a:off x="5942458" y="2693699"/>
            <a:ext cx="7875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 dirty="0">
                <a:hlinkClick r:id="rId5" action="ppaction://hlinksldjump"/>
              </a:rPr>
              <a:t>See IF analysis →</a:t>
            </a:r>
            <a:endParaRPr lang="en-US" sz="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303628-9E0E-1F02-45B4-413B9FB3D710}"/>
              </a:ext>
            </a:extLst>
          </p:cNvPr>
          <p:cNvSpPr txBox="1"/>
          <p:nvPr/>
        </p:nvSpPr>
        <p:spPr>
          <a:xfrm>
            <a:off x="7916990" y="2715768"/>
            <a:ext cx="10121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hlinkClick r:id="rId6" action="ppaction://hlinksldjump"/>
              </a:rPr>
              <a:t>See Clustering details</a:t>
            </a:r>
            <a:r>
              <a:rPr lang="en-CA" sz="600" dirty="0">
                <a:hlinkClick r:id="rId6" action="ppaction://hlinksldjump"/>
              </a:rPr>
              <a:t>→</a:t>
            </a:r>
            <a:r>
              <a:rPr lang="en-US" sz="600" dirty="0">
                <a:hlinkClick r:id="rId6" action="ppaction://hlinksldjump"/>
              </a:rPr>
              <a:t> </a:t>
            </a:r>
            <a:endParaRPr lang="en-US" sz="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B3FDFE-0B13-9A4C-EE10-646FCD67AA70}"/>
              </a:ext>
            </a:extLst>
          </p:cNvPr>
          <p:cNvSpPr txBox="1"/>
          <p:nvPr/>
        </p:nvSpPr>
        <p:spPr>
          <a:xfrm>
            <a:off x="7976283" y="4277606"/>
            <a:ext cx="104884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 dirty="0">
                <a:hlinkClick r:id="rId7" action="ppaction://hlinksldjump"/>
              </a:rPr>
              <a:t>See SHAP explainability →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05  Threshold Analysis &amp; False Positive Awareness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53035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1773936"/>
            <a:ext cx="329184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0" y="1819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Chosen: contamination = 0.05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0" y="20939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Flags 2 records (5% of 40)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Balances anomaly detection vs auditor workload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Esso Express stable across ALL 20 seed runs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4069080"/>
            <a:ext cx="8686800" cy="91440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  False Positive Awareness: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4074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Rules flagged 33/40 (82.5%) :— too broad because no_fuel_purchase is SYSTEMIC (80% of trips have no receipt).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Isolation Forest flags only 2 records :— those anomalous RELATIVE to each other. Records flagged by ALL 3 approaches = Critical = lowest false positive risk.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0F144-CF2E-3293-3217-951C691FB7CE}"/>
              </a:ext>
            </a:extLst>
          </p:cNvPr>
          <p:cNvSpPr txBox="1"/>
          <p:nvPr/>
        </p:nvSpPr>
        <p:spPr>
          <a:xfrm>
            <a:off x="7779543" y="3931920"/>
            <a:ext cx="15573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 dirty="0">
                <a:hlinkClick r:id="rId4" action="ppaction://hlinksldjump"/>
              </a:rPr>
              <a:t>See anomaly score distribution →</a:t>
            </a:r>
            <a:endParaRPr lang="en-US" sz="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BB02B-75B7-FDF2-3994-C3AB21FC59E1}"/>
              </a:ext>
            </a:extLst>
          </p:cNvPr>
          <p:cNvSpPr txBox="1"/>
          <p:nvPr/>
        </p:nvSpPr>
        <p:spPr>
          <a:xfrm>
            <a:off x="8136731" y="2631686"/>
            <a:ext cx="15573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 dirty="0">
                <a:hlinkClick r:id="rId5" action="ppaction://hlinksldjump"/>
              </a:rPr>
              <a:t>See Stability Score →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05  Audit Results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27432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04672" y="3566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04672" y="384048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74320" y="3890772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🟠  MB highest risk province (avg 1.25)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74320" y="4119372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74320" y="4169664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🧮  Combined risk = Statistical(×1) + Rules(×1) + Isolation Forest(×2)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83505C-C219-8C0A-3AAE-CBBDC2BC5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57" y="754126"/>
            <a:ext cx="6571510" cy="28577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05 Practical Effectiveness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1965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51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8321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832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Labels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" y="1252728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2527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Real IFTA fraud cases are rarely confirmed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" y="160020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16002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Isolation Forest works purely unsupervised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" y="1947672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19476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Day-1 deployment — no historical fraud data required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" y="2295144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29514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Rules cover known IFTA compliance checks directly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90872" y="777240"/>
            <a:ext cx="4251960" cy="1965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777240"/>
            <a:ext cx="42519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64024" y="8321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9784" y="832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Audit-Defensible by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55464" y="1252728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12527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SHAP explains WHY each record is flagged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55464" y="1600200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6002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Plain English report per record for auditors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55464" y="1947672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19476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Z-Score transparent — any accountant can verify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55464" y="2295144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229514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Nothing is deleted — full data lineage preserved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880360"/>
            <a:ext cx="4251960" cy="1965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2880360"/>
            <a:ext cx="4251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1752" y="293522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" y="2935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Scales to Production on AWS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93192" y="3355848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" y="33558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S3 + Glue + Athena: handles millions of records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3192" y="370332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1208" y="37033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Textract: parallel invoice processing, no limits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3192" y="4050792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1208" y="40507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Location Service: any Canadian city, no code changes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3192" y="4398264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1208" y="43982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contamination=0.05: flags ~2,000 from 40,000 records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90872" y="2880360"/>
            <a:ext cx="4251960" cy="1965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90872" y="2880360"/>
            <a:ext cx="42519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64024" y="293522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29784" y="2935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Improves Over Time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55464" y="3355848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83480" y="33558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Phase 1 now: unsupervised, works immediately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55464" y="3703320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83480" y="37033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Phase 2: XGBoost once auditors label 50 outcomes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55464" y="4050792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83480" y="40507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Phase 3: real-time SageMaker endpoint on new uploads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398264"/>
            <a:ext cx="5486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83480" y="43982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</a:rPr>
              <a:t>Each audit cycle produces labels for next model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vs Manual Review: </a:t>
            </a:r>
            <a:r>
              <a:rPr lang="en-US" sz="950" b="1" dirty="0">
                <a:solidFill>
                  <a:srgbClr val="333333"/>
                </a:solidFill>
              </a:rPr>
              <a:t> </a:t>
            </a:r>
            <a:r>
              <a:rPr lang="en-US" sz="950" dirty="0">
                <a:solidFill>
                  <a:srgbClr val="333333"/>
                </a:solidFill>
              </a:rPr>
              <a:t>faster, consistent, traceable.   </a:t>
            </a:r>
            <a:r>
              <a:rPr lang="en-US" sz="950" b="1" dirty="0">
                <a:solidFill>
                  <a:srgbClr val="1E2761"/>
                </a:solidFill>
              </a:rPr>
              <a:t>vs Simple Rules Only: </a:t>
            </a:r>
            <a:r>
              <a:rPr lang="en-US" sz="950" dirty="0">
                <a:solidFill>
                  <a:srgbClr val="333333"/>
                </a:solidFill>
              </a:rPr>
              <a:t>ML catches patterns rules miss.   </a:t>
            </a:r>
            <a:r>
              <a:rPr lang="en-US" sz="950" b="1" dirty="0">
                <a:solidFill>
                  <a:srgbClr val="1E2761"/>
                </a:solidFill>
              </a:rPr>
              <a:t>vs Black-Box ML: </a:t>
            </a:r>
            <a:r>
              <a:rPr lang="en-US" sz="950" dirty="0">
                <a:solidFill>
                  <a:srgbClr val="333333"/>
                </a:solidFill>
              </a:rPr>
              <a:t>SHAP makes every flag explainable.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06  AWS Architecture — 7 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Raw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(S3)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261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Versioned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immutable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508760" y="98755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91640" y="77724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8046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Textract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AnalyzeExpense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261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OCR + confidence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scores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71800" y="98755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54680" y="77724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8046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1261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City + province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auto-resolve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34840" y="98755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77724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8046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SageMaker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Notebooks +</a:t>
            </a:r>
            <a:br>
              <a:rPr lang="en-US" sz="900" b="1" dirty="0">
                <a:solidFill>
                  <a:srgbClr val="FFFFFF"/>
                </a:solidFill>
              </a:rPr>
            </a:br>
            <a:r>
              <a:rPr lang="en-US" sz="900" b="1" dirty="0">
                <a:solidFill>
                  <a:srgbClr val="FFFFFF"/>
                </a:solidFill>
              </a:rPr>
              <a:t>ML flow.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261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4 notebooks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ca-central-1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897880" y="98755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80760" y="77724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8046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AWS Glue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Crawler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1261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Auto schema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catalog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60920" y="98755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43800" y="77724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43800" y="8046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Amazon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Athena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43800" y="1261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SQL on S3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serverless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28600" y="1828800"/>
            <a:ext cx="425196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" y="1828800"/>
            <a:ext cx="42519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" y="1856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Amazon S3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221284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Central storage for all raw files, curated data, results, charts. Versioning enabled — original evidence can never be lost.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828800"/>
            <a:ext cx="425196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1828800"/>
            <a:ext cx="42519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3168" y="1856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Amazon Textract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221284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AnalyzeExpense for invoices — extracts vendor, date, total, litres. Async Tables+Forms for multi-page PDF. Per-field confidence scores.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218688"/>
            <a:ext cx="425196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28600" y="3218688"/>
            <a:ext cx="42519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Location 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" y="3602736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Automated city standardization and province resolution. 36 unique API calls — cached. Replaces hardcoded city lists entirely.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218688"/>
            <a:ext cx="425196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3218688"/>
            <a:ext cx="42519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SageMaker + Glue + Athena + MLflow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602736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SageMaker runs all 4 notebooks. MLflow tracks experiments. Glue auto-catalogs results. Athena enables SQL for auditors — no Python needed.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06  Live Demo — Amazon Athena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SQL on ML results — any auditor can run from browser. No Python needed.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93292"/>
            <a:ext cx="868680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88136"/>
            <a:ext cx="86868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2471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Q1: Priority Breakdown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466040"/>
            <a:ext cx="8686800" cy="80038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audit_priority, COUNT(*) as total,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ROUND(AVG(combined_risk_score),2) as avg_risk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goa_audit_db.audit_results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audit_priority IN ('Critical','High','Medium','Low')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audit_priority ORDER BY avg_risk DESC;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527531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Result: Critical:2(3.0)  |  High:2(2.0)  |  Medium:32(1.0)  |  Low:4(0.0)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3464290"/>
            <a:ext cx="8686800" cy="143689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3119390"/>
            <a:ext cx="86868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6839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Q2: Province Risk Ranking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502152"/>
            <a:ext cx="8686800" cy="80853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628669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province_from, COUNT(*) as trips,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SUM(CASE WHEN audit_priority IN ('Critical','High')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THEN 1 ELSE 0 END) as high_risk_trips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goa_audit_db.audit_results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province_from ORDER BY high_risk_trips DESC;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460729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Result: AB: 0/15 high risk  |  BC: 3/13 high risk  |  ON: 0/6  |  SK: 0/2  |  MB: 1/4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07  Limitations &amp; Future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Current 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6576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1795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Small Dataset (40 rows)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Needs 1000+ rows. Results are INDICATIVE not definitive.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36576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892808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19293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VIN Identifier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167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Cannot separate trips by truck. Single vehicle assumed.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42616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3657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642616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6791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OCR Confidence Errors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9169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Textract &lt;80% may corrupt features. Low-conf flagged.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392424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392424"/>
            <a:ext cx="3657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392424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4290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 Labels = No ROC Curve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666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Cannot compute precision/recall without fraud ground truth.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142232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142232"/>
            <a:ext cx="3657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142232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1788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Date Matching +/-1 Day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416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May inflate no_fuel_purchase. True rate may be lower.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731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Future Supervised Learning Roadmap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143000"/>
            <a:ext cx="4206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1143000"/>
            <a:ext cx="10058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1188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11795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Unsupervised (Current)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Isolation Forest + Rules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labels needed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AUC not computable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377440"/>
            <a:ext cx="4206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2377440"/>
            <a:ext cx="10058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2423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Semi-supervised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50+ labelled audit outcomes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XGBoost on confirmed fraud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AUC: 0.88+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611880"/>
            <a:ext cx="4206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3611880"/>
            <a:ext cx="100584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63440" y="3657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60720" y="36484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Fully Supervised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60720" y="3931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200+ cases + VIN + GPS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Random Forest / XGBoost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SageMaker real-time endpoint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IFTA Audit ML System — Government of Alberta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2004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13258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9992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AWS Services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Used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2377440"/>
            <a:ext cx="13258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9992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Notebooks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Delivered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377440"/>
            <a:ext cx="13258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29992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Invoices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Extracted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13258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29992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Critical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Audit Records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13258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Esso 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29992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Missing Invoice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Recovered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89520" y="2377440"/>
            <a:ext cx="13258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Athena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89520" y="29992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SQL-Queryable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Results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AWS Access for Reviewers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09651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</a:rPr>
              <a:t>Account ID: </a:t>
            </a:r>
            <a:r>
              <a:rPr lang="en-US" sz="1000" dirty="0">
                <a:solidFill>
                  <a:srgbClr val="FFFFFF"/>
                </a:solidFill>
              </a:rPr>
              <a:t>657167956806   </a:t>
            </a:r>
            <a:r>
              <a:rPr lang="en-US" sz="1000" b="1" dirty="0">
                <a:solidFill>
                  <a:srgbClr val="CADCFC"/>
                </a:solidFill>
              </a:rPr>
              <a:t>  |  User Name: </a:t>
            </a:r>
            <a:r>
              <a:rPr lang="en-US" sz="1000" b="1" dirty="0" err="1">
                <a:solidFill>
                  <a:srgbClr val="FFFFFF"/>
                </a:solidFill>
              </a:rPr>
              <a:t>GoA</a:t>
            </a:r>
            <a:r>
              <a:rPr lang="en-US" sz="1000" b="1" dirty="0">
                <a:solidFill>
                  <a:srgbClr val="FFFFFF"/>
                </a:solidFill>
              </a:rPr>
              <a:t>-Reviewer</a:t>
            </a:r>
            <a:r>
              <a:rPr lang="en-US" sz="1000" dirty="0">
                <a:solidFill>
                  <a:srgbClr val="FFFFFF"/>
                </a:solidFill>
              </a:rPr>
              <a:t>   </a:t>
            </a:r>
            <a:r>
              <a:rPr lang="en-US" sz="1000" b="1" dirty="0">
                <a:solidFill>
                  <a:srgbClr val="CADCFC"/>
                </a:solidFill>
              </a:rPr>
              <a:t>  | Console Password: </a:t>
            </a:r>
            <a:r>
              <a:rPr lang="en-US" sz="1000" b="1" dirty="0">
                <a:solidFill>
                  <a:srgbClr val="FFFFFF"/>
                </a:solidFill>
              </a:rPr>
              <a:t>Murtaza_Data_Scientist10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63F4A-35A3-3248-A4A1-1579F2DA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2" name="Freeform: Shape 7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2988"/>
            <a:ext cx="7032474" cy="51435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2988"/>
            <a:ext cx="7329573" cy="51435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94" name="Freeform: Shape 7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5" name="Freeform: Shape 7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7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EAD141CA-BF66-53F8-3789-1F1F1F14F660}"/>
              </a:ext>
            </a:extLst>
          </p:cNvPr>
          <p:cNvSpPr/>
          <p:nvPr/>
        </p:nvSpPr>
        <p:spPr>
          <a:xfrm>
            <a:off x="2528840" y="1306002"/>
            <a:ext cx="4086547" cy="17909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Appendix  </a:t>
            </a:r>
            <a:endParaRPr lang="en-US" sz="39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56" y="2140"/>
            <a:ext cx="2087566" cy="1804834"/>
            <a:chOff x="-305" y="-4155"/>
            <a:chExt cx="2514948" cy="2174333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062939" y="3342501"/>
            <a:ext cx="2087566" cy="1804834"/>
            <a:chOff x="-305" y="-4155"/>
            <a:chExt cx="2514948" cy="2174333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06058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CCAA0-9BB5-D5CF-EE94-4236A05E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C3034E-5591-5184-BE8D-D51388780871}"/>
              </a:ext>
            </a:extLst>
          </p:cNvPr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A:- Missing values. 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92ED73D-793E-471E-9353-AE6E26BF4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68" y="1625679"/>
            <a:ext cx="8495662" cy="303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01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14121-5AB6-E990-4222-DC24007E9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BC80D6A0-55DC-A31E-38CB-3762FAA61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BB9FBAF-CEE4-EF76-6DD7-F7A16014F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6D6E394-19A5-E10B-D12E-5C380AB22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12DFE11-0A91-08F6-C9D2-7B93DFBA8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81BA51-2684-2BC6-1E38-F929F84E9BE1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B:- Province Distribution. 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55E99-C1BF-EBE0-9D86-BB1E8C7FB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84" y="1601353"/>
            <a:ext cx="7772400" cy="32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4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F5B39-0DFC-BC67-3F84-FB90E08B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A3649633-D020-1005-11DD-93D0ADDF4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6041E8-942E-184D-2AA4-73B1218B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3B56949-EDE2-81B2-370F-DAFF64CFD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FB1BBB-3132-0127-A47A-04E8BE9BF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3E9DF1-016B-6C2C-05A8-3236D0CAFDDC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C:- Feature Engineering. 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4A2CB-DD1C-5DCD-0D69-310421F89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741" y="2010609"/>
            <a:ext cx="6183525" cy="19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13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B4A13-8C86-3A62-4BBE-E843A13C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A7C524CC-31A3-1E9A-A63B-C913EA27E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2ED40B6-9002-7698-732B-AC9AF80E6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05C732-D95D-127D-B96C-830A2A843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BC53213-767E-8F6F-17F0-DCF4E7E70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E2814D-3765-54B3-773D-DBADE01F23C6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C1:- Feature Distribution. 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B073F-C69D-0471-1D03-9788D402D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07" y="1507617"/>
            <a:ext cx="8879582" cy="276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0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D02CE-F1E2-87EE-0A37-3859DA5B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427B2EF9-FAF6-07D1-9421-1E6A3E5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D8F2035-AA68-01C8-8B5A-904E13D67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EA71C90-7EE5-6D90-502C-D34A13C0D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92E9C8E-60CB-09ED-EA09-1532323F5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EB537C-51FE-B5A7-DD6A-07398AA79A00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C2:- Fuel Match. 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E1DA2-59A7-62D5-FBC2-1E76AADD9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0102"/>
            <a:ext cx="7772400" cy="368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6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6425A-4E0F-F507-6DDD-AF0BE342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EAAF187-EB77-401F-C328-B137FE320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08FCBB-17C5-1AA6-A8D3-F5963B233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F7DE2B9-0406-883F-EEF1-C99C254DC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C098D1-108A-38F0-6A7E-691546D6D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2D2C4E-C13E-ACDB-58A4-76572C111225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C3:- Jurisdiction Imbalance. 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870F8-E052-920B-95AF-B211028E6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84" y="1362345"/>
            <a:ext cx="7772400" cy="35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10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8A1DD-C327-407B-C79F-7CB30D92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D1DF7DDF-066E-56E6-C067-DC6DA8C43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904550-5A4F-E785-4274-7F07AD612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1CA330-D20E-1A20-2F6A-FE392593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F9D10CC-21B0-A7F2-4701-2E1ACEAC7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E31435-984B-9D2B-A1D2-73CB922E61DF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C4:- Tempora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 Trends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62808-48E4-C9C8-EBCF-3FCB8ECE4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22" y="1770412"/>
            <a:ext cx="7772400" cy="278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F01AE-38FE-2632-684A-9EB3A795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E4BE1D28-B9C0-3236-E5D1-B90872F2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C1A0531-41E1-8233-5B7E-882427A7C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C77778E-86D0-6534-6D36-5B2326613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5501B81-65BF-40FB-3109-88DD24802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41D7BF-AB6D-6758-8F82-C84F5C52A604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D1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 Statistical Analysis(Z-Score). 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156A0-48A7-70BB-3C12-CE710085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96" y="1617708"/>
            <a:ext cx="8059208" cy="282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06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3EF4B-0C43-6C22-42A5-55AA996D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60FC9778-300A-C7F0-EDA5-DF8A28C0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44E562-CADC-EA11-585E-2BB378ED7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29A0FA-11FD-91B1-429B-B041E425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13D373A-A3F6-5ECC-BFBC-9C9F52A1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F012CC-1B9E-4128-F1A8-9D7C1B42785B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D2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 Rule Based Detection.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F9D22C-6164-3C9C-08A0-D3E3B7BD5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93" y="1366760"/>
            <a:ext cx="7168210" cy="36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61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79E24-4D06-6516-5538-155012F6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56F97DA3-A176-304B-EB1E-2AC25F92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81C8C7C-DC7D-9A18-285E-D0A7DDB24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7E7171-B74D-9DF9-0F3F-8F92F9EC2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412EFB6-4E22-CDC4-91B7-3B3E0AD11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13953B-9B2B-AD2F-5C3F-761604B134C9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D3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:-Isolation Forest.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3C0AE-FE9B-4684-D03A-1E2286439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84" y="1410463"/>
            <a:ext cx="7848503" cy="321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39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5A201-5D1F-6B59-1A45-62A25885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A3DB264-6149-62D5-4943-D7CDE8C7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02A476-A1AA-56A3-6F70-25899311F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3FF2549-9C3A-26FA-7BFF-363D60C4A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042157E-0433-FF8F-6A90-097F8D916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C1A66B-E773-F0B0-BAC2-6F802166237F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D4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 K-Means Clustering.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3D0E5-BA58-F21C-BC4F-806DEBE50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1428566"/>
            <a:ext cx="7345936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25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97ADE-5499-C52D-B543-CC8B185A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DB0470D1-0D68-7C66-F1FB-D7A5A97C9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BF38FBE-1401-7220-4D79-38C68DCDC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7C94BA0-BDCF-5F7A-003F-19A8295E0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89DEAA9-A6FB-B13F-0DE5-819E52B00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3F06F9-A0F4-126F-D537-C46EA83C8287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D4a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 Silhouette Score.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7104D-7798-65BC-B597-106668A7E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69" y="1263466"/>
            <a:ext cx="6921500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76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E36CD-F0A5-7AD1-A043-15E88F07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6ACF00CC-09AB-40CD-EA32-BFF0D01F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1901EB-A1C7-F877-ADD3-6E71E74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A3BB8C3-983C-B877-2A45-F0BFA1409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1F5587A-60F2-6934-AE8F-C548F2295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F1DF61-0A9F-F0B4-7682-D1882A345CC0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D5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 SHAP Explainability.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43B63-1CF6-CB39-FDCE-73930EB15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07" y="1513756"/>
            <a:ext cx="7424101" cy="327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92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942B1-DF64-2CF5-17F2-450B78231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5C1EC3C-D962-6C34-9B8F-187B1736E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27337C3-7818-8974-DB08-D64E30563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138A6D2-CDB2-5D33-B366-755510C3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609510D-E21A-5233-1C57-DB0A66B20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20BE2A-C9A6-CEF1-7B70-1BAFF70F8EBD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D6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:-Feature Importance.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04D5E-DF4F-985D-C82F-39B0C47FA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48" y="1492066"/>
            <a:ext cx="69215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97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4D313-CC68-296A-A119-BB67D8B0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633B34F-554F-BD46-D402-A9B9675A0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3C3E82E-9362-C21E-4D0B-1884761F4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AEA54C2-3A2C-7E1C-A9AA-F11FF555F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1AF211-4898-72A2-58FF-99D4F69B8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27C188-54EA-2425-AB4F-71FCC89C7FF9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D7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:-Anomaly Score Distribution.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28C45-37AE-A13B-83B7-1EEFCA950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00" y="1675120"/>
            <a:ext cx="8165200" cy="29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06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AEF490-65FE-0140-5DCE-E464362E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19ED2199-80D7-AA22-5AB6-76E4E8565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0D1C945-B9AD-21CC-59E2-C23336B0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F920A7A-0A28-F5AF-23EF-A9EC04490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BEC2A8F-0248-4668-E2F5-88D08D282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C019A7-3B7A-79E7-A22B-169D5F8A2538}"/>
              </a:ext>
            </a:extLst>
          </p:cNvPr>
          <p:cNvSpPr/>
          <p:nvPr/>
        </p:nvSpPr>
        <p:spPr>
          <a:xfrm>
            <a:off x="524784" y="186028"/>
            <a:ext cx="70952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 </a:t>
            </a: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D8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:-Stability Testing.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C4841-3C0B-CDED-33E3-9837A6CE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4" y="1388772"/>
            <a:ext cx="7130172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8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1780</Words>
  <Application>Microsoft Macintosh PowerPoint</Application>
  <PresentationFormat>On-screen Show (16:9)</PresentationFormat>
  <Paragraphs>384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IFTA Audit ML System — Government of Alberta</dc:title>
  <dc:subject>PptxGenJS Presentation</dc:subject>
  <dc:creator>PptxGenJS</dc:creator>
  <cp:lastModifiedBy>murtaza vora</cp:lastModifiedBy>
  <cp:revision>88</cp:revision>
  <dcterms:created xsi:type="dcterms:W3CDTF">2026-05-21T23:40:50Z</dcterms:created>
  <dcterms:modified xsi:type="dcterms:W3CDTF">2026-05-23T17:55:05Z</dcterms:modified>
</cp:coreProperties>
</file>